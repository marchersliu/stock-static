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94960" y="1097280"/>
            <a:ext cx="1371600" cy="1371600"/>
          </a:xfrm>
          <a:prstGeom prst="ellipse">
            <a:avLst/>
          </a:prstGeom>
          <a:solidFill>
            <a:srgbClr val="D4A017"/>
          </a:solidFill>
          <a:ln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2026年第二季度党小组会议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D4A017"/>
                </a:solidFill>
              </a:defRPr>
            </a:pPr>
            <a:r>
              <a:t>学习贯彻党中央精神 · 落实苏州非公党建要求 · 推动企业高质量发展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PPG涂料（张家港）有限公司党支部 · 2026年4月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40000"/>
                </a:solidFill>
              </a:defRPr>
            </a:pPr>
            <a:r>
              <a:t>会议议程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一、学习贯彻党中央最新精神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二、苏州及张家港非公党建要求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三、PPG（张家港）党建实践回顾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四、党建引领业务发展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五、社会责任与公益实践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六、第二季度工作计划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PPG涂料（张家港）有限公司党支部 · 机密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274320" cy="2286000"/>
          </a:xfrm>
          <a:prstGeom prst="rect">
            <a:avLst/>
          </a:prstGeom>
          <a:solidFill>
            <a:srgbClr val="C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一、学习贯彻党中央最新精神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4A017"/>
                </a:solidFill>
              </a:defRPr>
            </a:pPr>
            <a:r>
              <a:t>落实'两个一以贯之' · 推动党建与经营深度融合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40000"/>
                </a:solidFill>
              </a:defRPr>
            </a:pPr>
            <a:r>
              <a:t>2025-2026年党中央最新指示精神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坚持党的领导 · 服务中心大局 · 推动高质量发展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2025年12月中央企业负责人会议强调：坚持和加强党的全面领导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推动党的领导融入公司治理各环节，促进党建工作与生产经营深度融合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落实'两个一以贯之'：党的领导与公司治理相统一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完善'双向进入、交叉任职'领导体制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党组织前置研究讨论重大经营管理事项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2026年是'十五五'规划开局之年，锚定高质量发展目标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PPG涂料（张家港）有限公司党支部 · 机密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274320" cy="2286000"/>
          </a:xfrm>
          <a:prstGeom prst="rect">
            <a:avLst/>
          </a:prstGeom>
          <a:solidFill>
            <a:srgbClr val="C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二、苏州及张家港非公党建要求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4A017"/>
                </a:solidFill>
              </a:defRPr>
            </a:pPr>
            <a:r>
              <a:t>外企党委领导 · 标准化规范化建设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40000"/>
                </a:solidFill>
              </a:defRPr>
            </a:pPr>
            <a:r>
              <a:t>苏州/张家港非公企业党建工作要求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外企党委领导 · 堡垒指数考评 · 深度融合经营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在张家港保税区外企党委坚强领导下开展党建工作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推进'两个覆盖'：党的组织覆盖和党的工作覆盖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深化'四强'党支部建设：政治功能强、支部班子强、党员队伍强、作用发挥强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落实党建标准化、规范化建设要求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建立'堡垒指数'考评系统，实施线上提报、实时监测、评星定级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推动党建工作与外企经营发展深度融合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以高质量党建引领保障企业持续健康发展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PPG涂料（张家港）有限公司党支部 · 机密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274320" cy="2286000"/>
          </a:xfrm>
          <a:prstGeom prst="rect">
            <a:avLst/>
          </a:prstGeom>
          <a:solidFill>
            <a:srgbClr val="C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三、PPG（张家港）党建实践回顾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4A017"/>
                </a:solidFill>
              </a:defRPr>
            </a:pPr>
            <a:r>
              <a:t>组织建设 · 党员队伍 · 作用发挥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40000"/>
                </a:solidFill>
              </a:defRPr>
            </a:pPr>
            <a:r>
              <a:t>PPG（张家港）有限公司党支部概况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4D99"/>
                </a:solidFill>
              </a:defRPr>
            </a:pPr>
            <a:r>
              <a:t>组织建设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1A1A1A"/>
                </a:solidFill>
              </a:defRPr>
            </a:pPr>
            <a:r>
              <a:t>• 支部书记由管理层党员担任</a:t>
            </a:r>
          </a:p>
          <a:p>
            <a:pPr>
              <a:spcBef>
                <a:spcPts val="1000"/>
              </a:spcBef>
              <a:defRPr sz="1800">
                <a:solidFill>
                  <a:srgbClr val="1A1A1A"/>
                </a:solidFill>
              </a:defRPr>
            </a:pPr>
            <a:r>
              <a:t>• 落实'双向进入、交叉任职'</a:t>
            </a:r>
          </a:p>
          <a:p>
            <a:pPr>
              <a:spcBef>
                <a:spcPts val="1000"/>
              </a:spcBef>
              <a:defRPr sz="1800">
                <a:solidFill>
                  <a:srgbClr val="1A1A1A"/>
                </a:solidFill>
              </a:defRPr>
            </a:pPr>
            <a:r>
              <a:t>• 党组织活动经费保障到位</a:t>
            </a:r>
          </a:p>
          <a:p>
            <a:pPr>
              <a:spcBef>
                <a:spcPts val="1000"/>
              </a:spcBef>
              <a:defRPr sz="1800">
                <a:solidFill>
                  <a:srgbClr val="1A1A1A"/>
                </a:solidFill>
              </a:defRPr>
            </a:pPr>
            <a:r>
              <a:t>• 定期召开党小组会议</a:t>
            </a:r>
          </a:p>
          <a:p>
            <a:pPr>
              <a:spcBef>
                <a:spcPts val="1000"/>
              </a:spcBef>
              <a:defRPr sz="1800">
                <a:solidFill>
                  <a:srgbClr val="1A1A1A"/>
                </a:solidFill>
              </a:defRPr>
            </a:pPr>
            <a:r>
              <a:t>• 完善党员发展培养机制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4D99"/>
                </a:solidFill>
              </a:defRPr>
            </a:pPr>
            <a:r>
              <a:t>党员作用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1A1A1A"/>
                </a:solidFill>
              </a:defRPr>
            </a:pPr>
            <a:r>
              <a:t>• 党员骨干带头攻坚技术难题</a:t>
            </a:r>
          </a:p>
          <a:p>
            <a:pPr>
              <a:spcBef>
                <a:spcPts val="1000"/>
              </a:spcBef>
              <a:defRPr sz="1800">
                <a:solidFill>
                  <a:srgbClr val="1A1A1A"/>
                </a:solidFill>
              </a:defRPr>
            </a:pPr>
            <a:r>
              <a:t>• 在安全生产中发挥先锋作用</a:t>
            </a:r>
          </a:p>
          <a:p>
            <a:pPr>
              <a:spcBef>
                <a:spcPts val="1000"/>
              </a:spcBef>
              <a:defRPr sz="1800">
                <a:solidFill>
                  <a:srgbClr val="1A1A1A"/>
                </a:solidFill>
              </a:defRPr>
            </a:pPr>
            <a:r>
              <a:t>• 推动绿色低碳工艺改进</a:t>
            </a:r>
          </a:p>
          <a:p>
            <a:pPr>
              <a:spcBef>
                <a:spcPts val="1000"/>
              </a:spcBef>
              <a:defRPr sz="1800">
                <a:solidFill>
                  <a:srgbClr val="1A1A1A"/>
                </a:solidFill>
              </a:defRPr>
            </a:pPr>
            <a:r>
              <a:t>• 带动身边同事积极向上</a:t>
            </a:r>
          </a:p>
          <a:p>
            <a:pPr>
              <a:spcBef>
                <a:spcPts val="1000"/>
              </a:spcBef>
              <a:defRPr sz="1800">
                <a:solidFill>
                  <a:srgbClr val="1A1A1A"/>
                </a:solidFill>
              </a:defRPr>
            </a:pPr>
            <a:r>
              <a:t>• 争做岗位能手和技术标兵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PPG涂料（张家港）有限公司党支部 · 机密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274320" cy="2286000"/>
          </a:xfrm>
          <a:prstGeom prst="rect">
            <a:avLst/>
          </a:prstGeom>
          <a:solidFill>
            <a:srgbClr val="C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四、党建引领业务发展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4A017"/>
                </a:solidFill>
              </a:defRPr>
            </a:pPr>
            <a:r>
              <a:t>安全生产 · 绿色环保 · 技术创新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40000"/>
                </a:solidFill>
              </a:defRPr>
            </a:pPr>
            <a:r>
              <a:t>以党建引领推动企业高质量发展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党建促经营 · 融合出实效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安全生产：党员带头落实安全生产责任制，实现'零事故'目标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绿色环保：贯彻'保护并美化世界'企业理念，推进VOCs减排和清洁生产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技术创新：党员技术骨干参与新产品研发，提升涂料核心竞争力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质量管控：以党员示范岗带动全员质量意识提升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降本增效：党组织牵头开展合理化建议活动，持续优化生产工艺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人才培养：把业务骨干培养成党员，把党员培养成业务骨干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PPG涂料（张家港）有限公司党支部 · 机密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274320" cy="2286000"/>
          </a:xfrm>
          <a:prstGeom prst="rect">
            <a:avLst/>
          </a:prstGeom>
          <a:solidFill>
            <a:srgbClr val="C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五、社会责任与公益实践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4A017"/>
                </a:solidFill>
              </a:defRPr>
            </a:pPr>
            <a:r>
              <a:t>多彩社区 · 教育帮扶 · 绿色环保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40000"/>
                </a:solidFill>
              </a:defRPr>
            </a:pPr>
            <a:r>
              <a:t>PPG'多彩社区'公益项目（张家港）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热心公益 · 回馈社区 · 美化世界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2023年9月：PPG'多彩社区'德积幼儿园项目交付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   - 组织60余名员工志愿者参与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   - 绘制长江三宝（鲥鱼、河豚、刀鱼）和中华鲟等本地特色图案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   - 为670余名师生重塑温馨教学环境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2015年：南沙小学'多彩社区'项目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   - 170余名志愿者粉刷近千平方米操场围墙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   - 捐赠总额超过4万美元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持续践行'保护并美化世界'企业承诺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• 荣获'中国企业社会责任典范奖'等多项荣誉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PPG涂料（张家港）有限公司党支部 · 机密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274320" cy="2286000"/>
          </a:xfrm>
          <a:prstGeom prst="rect">
            <a:avLst/>
          </a:prstGeom>
          <a:solidFill>
            <a:srgbClr val="C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六、第二季度工作计划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4A017"/>
                </a:solidFill>
              </a:defRPr>
            </a:pPr>
            <a:r>
              <a:t>目标明确 · 责任落实 · 务求实效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40000"/>
                </a:solidFill>
              </a:defRPr>
            </a:pPr>
            <a:r>
              <a:t>2026年第二季度党小组工作重点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六个到位 · 全面提升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1. 深化理论学习：组织学习贯彻党的二十大及后续会议精神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2. 规范组织生活：严格落实'三会一课'制度，提高组织生活质量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3. 推动融合互促：围绕生产经营重点难点，设立党员攻坚项目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4. 加强队伍建设：做好发展党员工作，把优秀人才吸收到党组织中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5. 强化安全环保：发挥党员在安全生产和环保合规中的监督带头作用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6. 持续公益实践：策划并组织至少1次社区志愿服务活动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1A1A1A"/>
                </a:solidFill>
              </a:defRPr>
            </a:pPr>
            <a:r>
              <a:t>7. 迎接上级考评：对照'堡垒指数'标准，自查自纠、补齐短板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PPG涂料（张家港）有限公司党支部 · 机密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谢谢大家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D4A017"/>
                </a:solidFill>
              </a:defRPr>
            </a:pPr>
            <a:r>
              <a:t>PPG涂料（张家港）有限公司党支部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